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77" r:id="rId3"/>
    <p:sldId id="270" r:id="rId4"/>
    <p:sldId id="276" r:id="rId5"/>
    <p:sldId id="274" r:id="rId6"/>
    <p:sldId id="280" r:id="rId7"/>
    <p:sldId id="279" r:id="rId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57" autoAdjust="0"/>
    <p:restoredTop sz="94660"/>
  </p:normalViewPr>
  <p:slideViewPr>
    <p:cSldViewPr snapToGrid="0">
      <p:cViewPr varScale="1">
        <p:scale>
          <a:sx n="87" d="100"/>
          <a:sy n="87" d="100"/>
        </p:scale>
        <p:origin x="34" y="1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B01F5C-EEAB-4E1B-B08D-AA04336488D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4B65368-2B06-42E1-A5A8-DEC7D8A9D9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772A2B2F-4BF9-4363-BC7E-92142B215285}"/>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9DBC00BE-4D0E-4870-8193-4D099AD285A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5963E0B-8F1C-4A62-81FA-5B55A3A7F183}"/>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82571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2812CD-8ACB-4B2B-AF5C-374B618FDF2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E50B318-6940-46D3-AAEC-F0EEFFDEF8F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A467BAD-6EF9-4CD4-AB47-4FD3B4E26AD5}"/>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7681135A-B53F-44CD-8D2E-932AB25BB93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E3D73B6-48D5-4591-8F7E-5C0ADC63E1DB}"/>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2123421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1F1315-986E-4C4B-9809-1A8433EDAC9C}"/>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68F11D8-9C56-4E05-98C4-FBA7FAFA8A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27592FE-7CCC-434A-BF81-E2DE748EBA02}"/>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3339A53D-A214-4BF3-AA54-D4C2438C4EA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AA793B2-9133-4D6B-A959-7A55CD82F586}"/>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3022074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7F828E-19B0-4E59-AB83-22F9061A2EC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5E00215-C0FA-46F1-9A2A-05626ABC01F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0951331-9931-44AE-BF40-62380B99C333}"/>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C772F14-7368-43E0-B85F-00E76B1F1933}"/>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6" name="Нижний колонтитул 5">
            <a:extLst>
              <a:ext uri="{FF2B5EF4-FFF2-40B4-BE49-F238E27FC236}">
                <a16:creationId xmlns:a16="http://schemas.microsoft.com/office/drawing/2014/main" id="{ED02AFAE-2D4F-4DCA-B43E-C20021DB500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AED8FB1-862F-4E7B-B6C1-15B78734C5E6}"/>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2468450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773489-41EF-41EF-8ABE-38365AE9CFA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54A89D6-9144-46A1-A0D4-10E6D21784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B7A7C63-2B95-42BA-9EE6-D1DFA498B8D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B057610-8041-40B7-BF2C-3023F030F8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E23A013-DD21-4EA8-852A-AEBF82C33BB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CC3780DC-FF1F-45B9-87BC-3BCEEE7C1953}"/>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8" name="Нижний колонтитул 7">
            <a:extLst>
              <a:ext uri="{FF2B5EF4-FFF2-40B4-BE49-F238E27FC236}">
                <a16:creationId xmlns:a16="http://schemas.microsoft.com/office/drawing/2014/main" id="{BD511332-3B46-435C-B310-3E7B374E3C73}"/>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30995DE-CB89-4E7A-8918-B68BFB9A58CE}"/>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1513313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408262-3EDC-4DF6-9A4F-42408704C5BF}"/>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5E5EECBB-F65F-40E6-AE5A-1ED940E11CE4}"/>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4" name="Нижний колонтитул 3">
            <a:extLst>
              <a:ext uri="{FF2B5EF4-FFF2-40B4-BE49-F238E27FC236}">
                <a16:creationId xmlns:a16="http://schemas.microsoft.com/office/drawing/2014/main" id="{1D5B3B3D-E677-48AE-9535-CB5FE84EBF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072618F-2B8E-4A42-B6E5-B8C6AB51AD2C}"/>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1991003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B336717-E9A7-4A18-BC07-FCDBAF586F91}"/>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3" name="Нижний колонтитул 2">
            <a:extLst>
              <a:ext uri="{FF2B5EF4-FFF2-40B4-BE49-F238E27FC236}">
                <a16:creationId xmlns:a16="http://schemas.microsoft.com/office/drawing/2014/main" id="{FE353BE8-ED49-4148-B820-9AE112F6E1F0}"/>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02DD406-7D0E-4528-8523-6CED5D3F1096}"/>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3164530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C3EB58-BFB1-47F3-B334-AA2C5F3EAC2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72BCE74-BC73-4EBD-820B-17FF22EF7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D0A25E4E-B87E-41E2-82CC-D411D5F3F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08B7CCE-903E-49EE-8544-F820984FE099}"/>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6" name="Нижний колонтитул 5">
            <a:extLst>
              <a:ext uri="{FF2B5EF4-FFF2-40B4-BE49-F238E27FC236}">
                <a16:creationId xmlns:a16="http://schemas.microsoft.com/office/drawing/2014/main" id="{9A4C6631-E61F-4C49-87BA-C89A3DFD2EC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B20B67E-4687-4E5E-9436-AA19FE647C7A}"/>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362694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11976B-A10A-494B-B929-58DED63B186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2D5F1A1-1EBC-4AF9-AE2C-6C1096666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29BE931-A8AE-4D1C-B6D8-83967BB78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E6EA6AE-0DBE-4924-8320-B46C95478A3F}"/>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6" name="Нижний колонтитул 5">
            <a:extLst>
              <a:ext uri="{FF2B5EF4-FFF2-40B4-BE49-F238E27FC236}">
                <a16:creationId xmlns:a16="http://schemas.microsoft.com/office/drawing/2014/main" id="{63856329-6DFA-41C2-882B-D117B78C51E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FAD2EF5-E531-41F4-B21E-3312FC4B8C5A}"/>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2568806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727E9E-8F1D-47C4-A8FE-CA412DDFD9A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F4B29787-8343-4081-9FA4-77D4D688119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419CA82-63E2-4C28-B413-078A9B2282F7}"/>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090CE476-17EF-4C51-87BB-CA6AA775DEF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2BFA188-8459-48AB-99B2-F90D4772EC23}"/>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481062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F8813CC-7094-4AF1-85B1-A58DFAA74125}"/>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58B5C5C-627D-4899-9F72-A80E616780B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BD40F2A-98C4-476A-B8AE-0C06CE36FE09}"/>
              </a:ext>
            </a:extLst>
          </p:cNvPr>
          <p:cNvSpPr>
            <a:spLocks noGrp="1"/>
          </p:cNvSpPr>
          <p:nvPr>
            <p:ph type="dt" sz="half" idx="10"/>
          </p:nvPr>
        </p:nvSpPr>
        <p:spPr/>
        <p:txBody>
          <a:body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DD15EE8E-B9C3-46ED-90DC-ADED03A8A4E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4C9B073-4B59-4020-8E72-1E3C028F07DB}"/>
              </a:ext>
            </a:extLst>
          </p:cNvPr>
          <p:cNvSpPr>
            <a:spLocks noGrp="1"/>
          </p:cNvSpPr>
          <p:nvPr>
            <p:ph type="sldNum" sz="quarter" idx="12"/>
          </p:nvPr>
        </p:nvSpPr>
        <p:spPr/>
        <p:txBody>
          <a:bodyPr/>
          <a:lstStyle/>
          <a:p>
            <a:fld id="{3434EE93-1CEB-47A8-B01F-20CB7D7B8F6D}" type="slidenum">
              <a:rPr lang="ru-RU" smtClean="0"/>
              <a:t>‹#›</a:t>
            </a:fld>
            <a:endParaRPr lang="ru-RU"/>
          </a:p>
        </p:txBody>
      </p:sp>
    </p:spTree>
    <p:extLst>
      <p:ext uri="{BB962C8B-B14F-4D97-AF65-F5344CB8AC3E}">
        <p14:creationId xmlns:p14="http://schemas.microsoft.com/office/powerpoint/2010/main" val="524529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F00FAE-1DFF-4F50-81D2-96ED02AEC3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826483A-996B-413A-8811-E831329BE3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7267DA3-49BC-40BF-A966-C8D2BDBD27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424D0-8DAC-4EA6-8365-8F609255E8A5}" type="datetimeFigureOut">
              <a:rPr lang="ru-RU" smtClean="0"/>
              <a:t>14.04.2025</a:t>
            </a:fld>
            <a:endParaRPr lang="ru-RU"/>
          </a:p>
        </p:txBody>
      </p:sp>
      <p:sp>
        <p:nvSpPr>
          <p:cNvPr id="5" name="Нижний колонтитул 4">
            <a:extLst>
              <a:ext uri="{FF2B5EF4-FFF2-40B4-BE49-F238E27FC236}">
                <a16:creationId xmlns:a16="http://schemas.microsoft.com/office/drawing/2014/main" id="{8518CBFE-E830-48B1-9716-560D74661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81D12F1-AC71-48FE-B173-275FE30CED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4EE93-1CEB-47A8-B01F-20CB7D7B8F6D}" type="slidenum">
              <a:rPr lang="ru-RU" smtClean="0"/>
              <a:t>‹#›</a:t>
            </a:fld>
            <a:endParaRPr lang="ru-RU"/>
          </a:p>
        </p:txBody>
      </p:sp>
    </p:spTree>
    <p:extLst>
      <p:ext uri="{BB962C8B-B14F-4D97-AF65-F5344CB8AC3E}">
        <p14:creationId xmlns:p14="http://schemas.microsoft.com/office/powerpoint/2010/main" val="152100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gi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85509" y="91742"/>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7670578" y="3532426"/>
            <a:ext cx="5307469" cy="4236000"/>
          </a:xfrm>
          <a:prstGeom prst="rect">
            <a:avLst/>
          </a:prstGeom>
        </p:spPr>
      </p:pic>
      <p:sp>
        <p:nvSpPr>
          <p:cNvPr id="2" name="Заголовок 1">
            <a:extLst>
              <a:ext uri="{FF2B5EF4-FFF2-40B4-BE49-F238E27FC236}">
                <a16:creationId xmlns:a16="http://schemas.microsoft.com/office/drawing/2014/main" id="{957DD340-3C1A-421F-B36C-53950481F6DD}"/>
              </a:ext>
            </a:extLst>
          </p:cNvPr>
          <p:cNvSpPr>
            <a:spLocks noGrp="1"/>
          </p:cNvSpPr>
          <p:nvPr>
            <p:ph type="ctrTitle"/>
          </p:nvPr>
        </p:nvSpPr>
        <p:spPr>
          <a:xfrm>
            <a:off x="2350690" y="3681691"/>
            <a:ext cx="7231721" cy="593056"/>
          </a:xfrm>
        </p:spPr>
        <p:txBody>
          <a:bodyPr>
            <a:noAutofit/>
          </a:bodyPr>
          <a:lstStyle/>
          <a:p>
            <a:r>
              <a:rPr lang="ru-RU" sz="3600" b="1" dirty="0">
                <a:solidFill>
                  <a:srgbClr val="4472C4"/>
                </a:solidFill>
                <a:latin typeface="Cascadia Mono SemiBold" panose="020B0609020000020004" pitchFamily="49" charset="0"/>
                <a:cs typeface="Cascadia Mono SemiBold" panose="020B0609020000020004" pitchFamily="49" charset="0"/>
              </a:rPr>
              <a:t>Простой </a:t>
            </a:r>
            <a:r>
              <a:rPr lang="ru-RU" sz="3600" b="1" dirty="0" err="1">
                <a:solidFill>
                  <a:srgbClr val="4472C4"/>
                </a:solidFill>
                <a:latin typeface="Cascadia Mono SemiBold" panose="020B0609020000020004" pitchFamily="49" charset="0"/>
                <a:cs typeface="Cascadia Mono SemiBold" panose="020B0609020000020004" pitchFamily="49" charset="0"/>
              </a:rPr>
              <a:t>платформер</a:t>
            </a:r>
            <a:r>
              <a:rPr lang="ru-RU" sz="3600" b="1" dirty="0">
                <a:solidFill>
                  <a:srgbClr val="4472C4"/>
                </a:solidFill>
                <a:latin typeface="Cascadia Mono SemiBold" panose="020B0609020000020004" pitchFamily="49" charset="0"/>
                <a:cs typeface="Cascadia Mono SemiBold" panose="020B0609020000020004" pitchFamily="49" charset="0"/>
              </a:rPr>
              <a:t> в </a:t>
            </a:r>
            <a:r>
              <a:rPr lang="en-US" sz="3600" b="1" dirty="0">
                <a:solidFill>
                  <a:srgbClr val="4472C4"/>
                </a:solidFill>
                <a:latin typeface="Cascadia Mono SemiBold" panose="020B0609020000020004" pitchFamily="49" charset="0"/>
                <a:cs typeface="Cascadia Mono SemiBold" panose="020B0609020000020004" pitchFamily="49" charset="0"/>
              </a:rPr>
              <a:t>Godot</a:t>
            </a:r>
            <a:endParaRPr lang="ru-RU" sz="3600" b="1" dirty="0">
              <a:solidFill>
                <a:srgbClr val="4472C4"/>
              </a:solidFill>
              <a:latin typeface="Cascadia Mono SemiBold" panose="020B0609020000020004" pitchFamily="49" charset="0"/>
              <a:cs typeface="Cascadia Mono SemiBold" panose="020B0609020000020004" pitchFamily="49" charset="0"/>
            </a:endParaRPr>
          </a:p>
        </p:txBody>
      </p:sp>
      <p:sp>
        <p:nvSpPr>
          <p:cNvPr id="6" name="Прямоугольник 5">
            <a:extLst>
              <a:ext uri="{FF2B5EF4-FFF2-40B4-BE49-F238E27FC236}">
                <a16:creationId xmlns:a16="http://schemas.microsoft.com/office/drawing/2014/main" id="{331B4D84-FFAE-41DA-A350-61E888A85AF7}"/>
              </a:ext>
            </a:extLst>
          </p:cNvPr>
          <p:cNvSpPr/>
          <p:nvPr/>
        </p:nvSpPr>
        <p:spPr>
          <a:xfrm>
            <a:off x="1517848" y="384132"/>
            <a:ext cx="9177866" cy="954107"/>
          </a:xfrm>
          <a:prstGeom prst="rect">
            <a:avLst/>
          </a:prstGeom>
        </p:spPr>
        <p:txBody>
          <a:bodyPr wrap="square">
            <a:spAutoFit/>
          </a:bodyPr>
          <a:lstStyle/>
          <a:p>
            <a:pPr algn="ctr"/>
            <a:r>
              <a:rPr lang="ru-RU" sz="1400" dirty="0">
                <a:solidFill>
                  <a:schemeClr val="bg1"/>
                </a:solidFill>
                <a:latin typeface="Times New Roman" panose="02020603050405020304" pitchFamily="18" charset="0"/>
                <a:cs typeface="Times New Roman" panose="02020603050405020304" pitchFamily="18" charset="0"/>
              </a:rPr>
              <a:t>МИНИСТЕРСТВО ОБРАЗОВАНИЯ ВОРОНЕЖСКОЙ ОБЛАСТИ </a:t>
            </a:r>
          </a:p>
          <a:p>
            <a:pPr algn="ctr"/>
            <a:r>
              <a:rPr lang="ru-RU" sz="1400" dirty="0">
                <a:solidFill>
                  <a:schemeClr val="bg1"/>
                </a:solidFill>
                <a:latin typeface="Times New Roman" panose="02020603050405020304" pitchFamily="18" charset="0"/>
                <a:cs typeface="Times New Roman" panose="02020603050405020304" pitchFamily="18" charset="0"/>
              </a:rPr>
              <a:t>ГОСУДАРСТВЕННОЕ БЮДЖЕТНОЕ ПРОФЕССИОНАЛЬНОЕ ОБРАЗОВАТЕЛЬНОЕ УЧРЕЖДЕНИЕ ВОРОНЕЖСКОЙ ОБЛАСТИ «</a:t>
            </a:r>
            <a:r>
              <a:rPr lang="ru-RU" sz="1200" dirty="0">
                <a:solidFill>
                  <a:schemeClr val="bg1"/>
                </a:solidFill>
                <a:latin typeface="Times New Roman" panose="02020603050405020304" pitchFamily="18" charset="0"/>
                <a:cs typeface="Times New Roman" panose="02020603050405020304" pitchFamily="18" charset="0"/>
              </a:rPr>
              <a:t>СЕМИЛУКСКИЙ</a:t>
            </a:r>
            <a:r>
              <a:rPr lang="ru-RU" sz="1400" dirty="0">
                <a:solidFill>
                  <a:schemeClr val="bg1"/>
                </a:solidFill>
                <a:latin typeface="Times New Roman" panose="02020603050405020304" pitchFamily="18" charset="0"/>
                <a:cs typeface="Times New Roman" panose="02020603050405020304" pitchFamily="18" charset="0"/>
              </a:rPr>
              <a:t> ПОЛИТЕХНИЧЕСКИЙ КОЛЛЕДЖ»</a:t>
            </a:r>
            <a:endParaRPr lang="en-US" sz="1400" dirty="0">
              <a:solidFill>
                <a:schemeClr val="bg1"/>
              </a:solidFill>
              <a:latin typeface="Times New Roman" panose="02020603050405020304" pitchFamily="18" charset="0"/>
              <a:cs typeface="Times New Roman" panose="02020603050405020304" pitchFamily="18" charset="0"/>
            </a:endParaRPr>
          </a:p>
          <a:p>
            <a:pPr algn="ctr"/>
            <a:r>
              <a:rPr lang="ru-RU" sz="1400" dirty="0">
                <a:solidFill>
                  <a:schemeClr val="bg1"/>
                </a:solidFill>
                <a:latin typeface="Times New Roman" panose="02020603050405020304" pitchFamily="18" charset="0"/>
                <a:cs typeface="Times New Roman" panose="02020603050405020304" pitchFamily="18" charset="0"/>
              </a:rPr>
              <a:t>Центр цифрового образования детей «</a:t>
            </a:r>
            <a:r>
              <a:rPr lang="en-US" sz="1400" dirty="0">
                <a:solidFill>
                  <a:schemeClr val="bg1"/>
                </a:solidFill>
                <a:latin typeface="Times New Roman" panose="02020603050405020304" pitchFamily="18" charset="0"/>
                <a:cs typeface="Times New Roman" panose="02020603050405020304" pitchFamily="18" charset="0"/>
              </a:rPr>
              <a:t>IT</a:t>
            </a:r>
            <a:r>
              <a:rPr lang="ru-RU" sz="1400" dirty="0">
                <a:solidFill>
                  <a:schemeClr val="bg1"/>
                </a:solidFill>
                <a:latin typeface="Times New Roman" panose="02020603050405020304" pitchFamily="18" charset="0"/>
                <a:cs typeface="Times New Roman" panose="02020603050405020304" pitchFamily="18" charset="0"/>
              </a:rPr>
              <a:t>-Куб» </a:t>
            </a:r>
            <a:endParaRPr lang="ru-RU" sz="1400" b="1" dirty="0">
              <a:solidFill>
                <a:schemeClr val="bg1"/>
              </a:solidFill>
              <a:latin typeface="Times New Roman" panose="02020603050405020304" pitchFamily="18" charset="0"/>
              <a:ea typeface="+mj-ea"/>
              <a:cs typeface="Times New Roman" panose="02020603050405020304" pitchFamily="18" charset="0"/>
            </a:endParaRPr>
          </a:p>
        </p:txBody>
      </p:sp>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8" name="Прямоугольник 17">
            <a:extLst>
              <a:ext uri="{FF2B5EF4-FFF2-40B4-BE49-F238E27FC236}">
                <a16:creationId xmlns:a16="http://schemas.microsoft.com/office/drawing/2014/main" id="{207D5FE4-4129-460D-AB37-E05511348873}"/>
              </a:ext>
            </a:extLst>
          </p:cNvPr>
          <p:cNvSpPr/>
          <p:nvPr/>
        </p:nvSpPr>
        <p:spPr>
          <a:xfrm>
            <a:off x="9411679" y="5090780"/>
            <a:ext cx="2619714" cy="830997"/>
          </a:xfrm>
          <a:prstGeom prst="rect">
            <a:avLst/>
          </a:prstGeom>
        </p:spPr>
        <p:txBody>
          <a:bodyPr wrap="square">
            <a:spAutoFit/>
          </a:bodyPr>
          <a:lstStyle/>
          <a:p>
            <a:pPr algn="r"/>
            <a:r>
              <a:rPr lang="ru-RU" sz="2400" dirty="0" err="1">
                <a:latin typeface="Times New Roman" panose="02020603050405020304" pitchFamily="18" charset="0"/>
                <a:cs typeface="Times New Roman" panose="02020603050405020304" pitchFamily="18" charset="0"/>
              </a:rPr>
              <a:t>Кульнев</a:t>
            </a:r>
            <a:r>
              <a:rPr lang="ru-RU" sz="2400" dirty="0">
                <a:latin typeface="Times New Roman" panose="02020603050405020304" pitchFamily="18" charset="0"/>
                <a:cs typeface="Times New Roman" panose="02020603050405020304" pitchFamily="18" charset="0"/>
              </a:rPr>
              <a:t> Н.В.</a:t>
            </a:r>
          </a:p>
          <a:p>
            <a:pPr algn="r"/>
            <a:r>
              <a:rPr lang="ru-RU" sz="2400" dirty="0">
                <a:latin typeface="Times New Roman" panose="02020603050405020304" pitchFamily="18" charset="0"/>
                <a:cs typeface="Times New Roman" panose="02020603050405020304" pitchFamily="18" charset="0"/>
              </a:rPr>
              <a:t>Педагог ДО</a:t>
            </a:r>
          </a:p>
        </p:txBody>
      </p:sp>
      <p:sp>
        <p:nvSpPr>
          <p:cNvPr id="19" name="Прямоугольник 18">
            <a:extLst>
              <a:ext uri="{FF2B5EF4-FFF2-40B4-BE49-F238E27FC236}">
                <a16:creationId xmlns:a16="http://schemas.microsoft.com/office/drawing/2014/main" id="{46B7B384-FDDD-4C30-B744-A449350DD55E}"/>
              </a:ext>
            </a:extLst>
          </p:cNvPr>
          <p:cNvSpPr/>
          <p:nvPr/>
        </p:nvSpPr>
        <p:spPr>
          <a:xfrm>
            <a:off x="21563" y="6248872"/>
            <a:ext cx="12170437" cy="461665"/>
          </a:xfrm>
          <a:prstGeom prst="rect">
            <a:avLst/>
          </a:prstGeom>
        </p:spPr>
        <p:txBody>
          <a:bodyPr wrap="square">
            <a:spAutoFit/>
          </a:bodyPr>
          <a:lstStyle/>
          <a:p>
            <a:pPr algn="ctr"/>
            <a:r>
              <a:rPr lang="ru-RU" sz="2400" b="1" dirty="0">
                <a:solidFill>
                  <a:schemeClr val="bg2">
                    <a:lumMod val="75000"/>
                  </a:schemeClr>
                </a:solidFill>
                <a:latin typeface="Times New Roman" panose="02020603050405020304" pitchFamily="18" charset="0"/>
                <a:cs typeface="Times New Roman" panose="02020603050405020304" pitchFamily="18" charset="0"/>
              </a:rPr>
              <a:t>202</a:t>
            </a:r>
            <a:r>
              <a:rPr lang="en-US" sz="2400" b="1" dirty="0">
                <a:solidFill>
                  <a:schemeClr val="bg2">
                    <a:lumMod val="75000"/>
                  </a:schemeClr>
                </a:solidFill>
                <a:latin typeface="Times New Roman" panose="02020603050405020304" pitchFamily="18" charset="0"/>
                <a:cs typeface="Times New Roman" panose="02020603050405020304" pitchFamily="18" charset="0"/>
              </a:rPr>
              <a:t>5</a:t>
            </a:r>
            <a:endParaRPr lang="ru-RU" sz="2400" dirty="0">
              <a:solidFill>
                <a:schemeClr val="bg2">
                  <a:lumMod val="75000"/>
                </a:schemeClr>
              </a:solidFill>
              <a:latin typeface="Times New Roman" panose="02020603050405020304" pitchFamily="18" charset="0"/>
              <a:cs typeface="Times New Roman" panose="02020603050405020304" pitchFamily="18" charset="0"/>
            </a:endParaRPr>
          </a:p>
        </p:txBody>
      </p:sp>
      <p:pic>
        <p:nvPicPr>
          <p:cNvPr id="15" name="Рисунок 14" descr="Изображение выглядит как снимок экрана, Графика, дизайн&#10;&#10;Контент, сгенерированный ИИ, может содержать ошибки.">
            <a:extLst>
              <a:ext uri="{FF2B5EF4-FFF2-40B4-BE49-F238E27FC236}">
                <a16:creationId xmlns:a16="http://schemas.microsoft.com/office/drawing/2014/main" id="{602074B2-32FD-DE3F-5715-7C8A6C837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571" y="181195"/>
            <a:ext cx="1289301" cy="1487948"/>
          </a:xfrm>
          <a:prstGeom prst="rect">
            <a:avLst/>
          </a:prstGeom>
        </p:spPr>
      </p:pic>
      <p:sp>
        <p:nvSpPr>
          <p:cNvPr id="17" name="Заголовок 1">
            <a:extLst>
              <a:ext uri="{FF2B5EF4-FFF2-40B4-BE49-F238E27FC236}">
                <a16:creationId xmlns:a16="http://schemas.microsoft.com/office/drawing/2014/main" id="{80FEBD5C-78D0-AE65-F2F6-792DA0D28D60}"/>
              </a:ext>
            </a:extLst>
          </p:cNvPr>
          <p:cNvSpPr txBox="1">
            <a:spLocks/>
          </p:cNvSpPr>
          <p:nvPr/>
        </p:nvSpPr>
        <p:spPr>
          <a:xfrm>
            <a:off x="2420260" y="3312364"/>
            <a:ext cx="5872504" cy="3461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ru-RU" sz="2800" b="1" dirty="0">
                <a:solidFill>
                  <a:schemeClr val="bg2">
                    <a:lumMod val="50000"/>
                  </a:schemeClr>
                </a:solidFill>
                <a:latin typeface="Cascadia Mono SemiBold" panose="020B0609020000020004" pitchFamily="49" charset="0"/>
                <a:cs typeface="Cascadia Mono SemiBold" panose="020B0609020000020004" pitchFamily="49" charset="0"/>
              </a:rPr>
              <a:t>Мастер-класс</a:t>
            </a:r>
          </a:p>
        </p:txBody>
      </p:sp>
      <p:sp>
        <p:nvSpPr>
          <p:cNvPr id="3" name="Заголовок 1">
            <a:extLst>
              <a:ext uri="{FF2B5EF4-FFF2-40B4-BE49-F238E27FC236}">
                <a16:creationId xmlns:a16="http://schemas.microsoft.com/office/drawing/2014/main" id="{8B652A7E-9902-36F7-7A8A-C2FAF71774B2}"/>
              </a:ext>
            </a:extLst>
          </p:cNvPr>
          <p:cNvSpPr txBox="1">
            <a:spLocks/>
          </p:cNvSpPr>
          <p:nvPr/>
        </p:nvSpPr>
        <p:spPr>
          <a:xfrm>
            <a:off x="2420260" y="2441921"/>
            <a:ext cx="5696153" cy="82144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ГБПОУ ВО «СПК» </a:t>
            </a:r>
          </a:p>
          <a:p>
            <a:pPr algn="l"/>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ЦЦОД </a:t>
            </a:r>
            <a:r>
              <a:rPr lang="en-US" sz="2800" b="1" dirty="0">
                <a:solidFill>
                  <a:schemeClr val="bg2">
                    <a:lumMod val="75000"/>
                  </a:schemeClr>
                </a:solidFill>
                <a:latin typeface="Cascadia Mono SemiBold" panose="020B0609020000020004" pitchFamily="49" charset="0"/>
                <a:cs typeface="Cascadia Mono SemiBold" panose="020B0609020000020004" pitchFamily="49" charset="0"/>
              </a:rPr>
              <a:t>IT-</a:t>
            </a:r>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Куб</a:t>
            </a:r>
          </a:p>
        </p:txBody>
      </p:sp>
    </p:spTree>
    <p:extLst>
      <p:ext uri="{BB962C8B-B14F-4D97-AF65-F5344CB8AC3E}">
        <p14:creationId xmlns:p14="http://schemas.microsoft.com/office/powerpoint/2010/main" val="2889359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7754" y="167963"/>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6946494" y="2474537"/>
            <a:ext cx="5307469" cy="4236000"/>
          </a:xfrm>
          <a:prstGeom prst="rect">
            <a:avLst/>
          </a:prstGeom>
        </p:spPr>
      </p:pic>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1B115ABB-1E75-4934-AC4B-DD6FCFF962DE}"/>
              </a:ext>
            </a:extLst>
          </p:cNvPr>
          <p:cNvSpPr>
            <a:spLocks noGrp="1"/>
          </p:cNvSpPr>
          <p:nvPr>
            <p:ph type="ctrTitle"/>
          </p:nvPr>
        </p:nvSpPr>
        <p:spPr>
          <a:xfrm>
            <a:off x="246504" y="286497"/>
            <a:ext cx="9441781" cy="526304"/>
          </a:xfrm>
        </p:spPr>
        <p:txBody>
          <a:bodyPr>
            <a:noAutofit/>
          </a:bodyPr>
          <a:lstStyle/>
          <a:p>
            <a:pPr algn="l"/>
            <a:r>
              <a:rPr lang="ru-RU" sz="2800" b="1" dirty="0">
                <a:solidFill>
                  <a:srgbClr val="4472C4"/>
                </a:solidFill>
                <a:latin typeface="Cascadia Mono SemiBold" panose="020B0609020000020004" pitchFamily="49" charset="0"/>
                <a:cs typeface="Cascadia Mono SemiBold" panose="020B0609020000020004" pitchFamily="49" charset="0"/>
              </a:rPr>
              <a:t>Мастер-класс</a:t>
            </a:r>
            <a:r>
              <a:rPr lang="en-US" sz="2800" b="1" dirty="0">
                <a:solidFill>
                  <a:srgbClr val="4472C4"/>
                </a:solidFill>
                <a:latin typeface="Cascadia Mono SemiBold" panose="020B0609020000020004" pitchFamily="49" charset="0"/>
                <a:cs typeface="Cascadia Mono SemiBold" panose="020B0609020000020004" pitchFamily="49" charset="0"/>
              </a:rPr>
              <a:t>:</a:t>
            </a:r>
            <a:endParaRPr lang="ru-RU" sz="2800" b="1" dirty="0">
              <a:solidFill>
                <a:srgbClr val="4472C4"/>
              </a:solidFill>
              <a:latin typeface="Cascadia Mono SemiBold" panose="020B0609020000020004" pitchFamily="49" charset="0"/>
              <a:cs typeface="Cascadia Mono SemiBold" panose="020B0609020000020004" pitchFamily="49" charset="0"/>
            </a:endParaRPr>
          </a:p>
        </p:txBody>
      </p:sp>
      <p:sp>
        <p:nvSpPr>
          <p:cNvPr id="5" name="Объект 2">
            <a:extLst>
              <a:ext uri="{FF2B5EF4-FFF2-40B4-BE49-F238E27FC236}">
                <a16:creationId xmlns:a16="http://schemas.microsoft.com/office/drawing/2014/main" id="{6A76BF5D-2A9F-722B-BD40-BCF653F386EB}"/>
              </a:ext>
            </a:extLst>
          </p:cNvPr>
          <p:cNvSpPr txBox="1">
            <a:spLocks/>
          </p:cNvSpPr>
          <p:nvPr/>
        </p:nvSpPr>
        <p:spPr>
          <a:xfrm>
            <a:off x="6028385" y="2273673"/>
            <a:ext cx="5429102" cy="4637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ru-RU" dirty="0">
                <a:latin typeface="Times New Roman" panose="02020603050405020304" pitchFamily="18" charset="0"/>
                <a:cs typeface="Times New Roman" panose="02020603050405020304" pitchFamily="18" charset="0"/>
              </a:rPr>
              <a:t>На мастер-классе будет рассмотрен простой пример создания </a:t>
            </a:r>
            <a:r>
              <a:rPr lang="ru-RU" dirty="0" err="1">
                <a:latin typeface="Times New Roman" panose="02020603050405020304" pitchFamily="18" charset="0"/>
                <a:cs typeface="Times New Roman" panose="02020603050405020304" pitchFamily="18" charset="0"/>
              </a:rPr>
              <a:t>платформера</a:t>
            </a:r>
            <a:r>
              <a:rPr lang="ru-RU" dirty="0">
                <a:latin typeface="Times New Roman" panose="02020603050405020304" pitchFamily="18" charset="0"/>
                <a:cs typeface="Times New Roman" panose="02020603050405020304" pitchFamily="18" charset="0"/>
              </a:rPr>
              <a:t>.</a:t>
            </a:r>
          </a:p>
          <a:p>
            <a:pPr algn="just"/>
            <a:r>
              <a:rPr lang="ru-RU" dirty="0">
                <a:latin typeface="Times New Roman" panose="02020603050405020304" pitchFamily="18" charset="0"/>
                <a:cs typeface="Times New Roman" panose="02020603050405020304" pitchFamily="18" charset="0"/>
              </a:rPr>
              <a:t>Создание персонажа – игрока. Код и анимации.</a:t>
            </a:r>
          </a:p>
          <a:p>
            <a:pPr algn="just"/>
            <a:r>
              <a:rPr lang="ru-RU" dirty="0">
                <a:latin typeface="Times New Roman" panose="02020603050405020304" pitchFamily="18" charset="0"/>
                <a:cs typeface="Times New Roman" panose="02020603050405020304" pitchFamily="18" charset="0"/>
              </a:rPr>
              <a:t>Создание окружающего мира. </a:t>
            </a:r>
            <a:r>
              <a:rPr lang="en-US" dirty="0" err="1">
                <a:latin typeface="Times New Roman" panose="02020603050405020304" pitchFamily="18" charset="0"/>
                <a:cs typeface="Times New Roman" panose="02020603050405020304" pitchFamily="18" charset="0"/>
              </a:rPr>
              <a:t>TileSet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коллизия. </a:t>
            </a:r>
          </a:p>
        </p:txBody>
      </p:sp>
      <p:pic>
        <p:nvPicPr>
          <p:cNvPr id="6" name="Рисунок 5">
            <a:extLst>
              <a:ext uri="{FF2B5EF4-FFF2-40B4-BE49-F238E27FC236}">
                <a16:creationId xmlns:a16="http://schemas.microsoft.com/office/drawing/2014/main" id="{6B761196-78FC-D030-FE66-A8D67C93B5A7}"/>
              </a:ext>
            </a:extLst>
          </p:cNvPr>
          <p:cNvPicPr>
            <a:picLocks noChangeAspect="1"/>
          </p:cNvPicPr>
          <p:nvPr/>
        </p:nvPicPr>
        <p:blipFill>
          <a:blip r:embed="rId4"/>
          <a:stretch>
            <a:fillRect/>
          </a:stretch>
        </p:blipFill>
        <p:spPr>
          <a:xfrm>
            <a:off x="377273" y="3680839"/>
            <a:ext cx="4730750" cy="2787650"/>
          </a:xfrm>
          <a:prstGeom prst="rect">
            <a:avLst/>
          </a:prstGeom>
        </p:spPr>
      </p:pic>
      <p:pic>
        <p:nvPicPr>
          <p:cNvPr id="13" name="Рисунок 12">
            <a:extLst>
              <a:ext uri="{FF2B5EF4-FFF2-40B4-BE49-F238E27FC236}">
                <a16:creationId xmlns:a16="http://schemas.microsoft.com/office/drawing/2014/main" id="{ABF5B697-73CB-F19F-441E-7AB7B60F510B}"/>
              </a:ext>
            </a:extLst>
          </p:cNvPr>
          <p:cNvPicPr>
            <a:picLocks noChangeAspect="1"/>
          </p:cNvPicPr>
          <p:nvPr/>
        </p:nvPicPr>
        <p:blipFill>
          <a:blip r:embed="rId5"/>
          <a:stretch>
            <a:fillRect/>
          </a:stretch>
        </p:blipFill>
        <p:spPr>
          <a:xfrm>
            <a:off x="311861" y="1394435"/>
            <a:ext cx="3641343" cy="2175075"/>
          </a:xfrm>
          <a:prstGeom prst="rect">
            <a:avLst/>
          </a:prstGeom>
        </p:spPr>
      </p:pic>
      <p:pic>
        <p:nvPicPr>
          <p:cNvPr id="2" name="Рисунок 1">
            <a:extLst>
              <a:ext uri="{FF2B5EF4-FFF2-40B4-BE49-F238E27FC236}">
                <a16:creationId xmlns:a16="http://schemas.microsoft.com/office/drawing/2014/main" id="{64B6866C-FDD4-3B2D-4A46-875D7666E7E5}"/>
              </a:ext>
            </a:extLst>
          </p:cNvPr>
          <p:cNvPicPr>
            <a:picLocks noChangeAspect="1"/>
          </p:cNvPicPr>
          <p:nvPr/>
        </p:nvPicPr>
        <p:blipFill>
          <a:blip r:embed="rId6"/>
          <a:stretch>
            <a:fillRect/>
          </a:stretch>
        </p:blipFill>
        <p:spPr>
          <a:xfrm>
            <a:off x="3443353" y="2142195"/>
            <a:ext cx="1671203" cy="1510816"/>
          </a:xfrm>
          <a:prstGeom prst="rect">
            <a:avLst/>
          </a:prstGeom>
        </p:spPr>
      </p:pic>
    </p:spTree>
    <p:extLst>
      <p:ext uri="{BB962C8B-B14F-4D97-AF65-F5344CB8AC3E}">
        <p14:creationId xmlns:p14="http://schemas.microsoft.com/office/powerpoint/2010/main" val="98993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0" y="135497"/>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6946494" y="2474537"/>
            <a:ext cx="5307469" cy="4236000"/>
          </a:xfrm>
          <a:prstGeom prst="rect">
            <a:avLst/>
          </a:prstGeom>
        </p:spPr>
      </p:pic>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1B115ABB-1E75-4934-AC4B-DD6FCFF962DE}"/>
              </a:ext>
            </a:extLst>
          </p:cNvPr>
          <p:cNvSpPr>
            <a:spLocks noGrp="1"/>
          </p:cNvSpPr>
          <p:nvPr>
            <p:ph type="ctrTitle"/>
          </p:nvPr>
        </p:nvSpPr>
        <p:spPr>
          <a:xfrm>
            <a:off x="246505" y="286497"/>
            <a:ext cx="3834428" cy="526304"/>
          </a:xfrm>
        </p:spPr>
        <p:txBody>
          <a:bodyPr>
            <a:noAutofit/>
          </a:bodyPr>
          <a:lstStyle/>
          <a:p>
            <a:pPr algn="l"/>
            <a:r>
              <a:rPr lang="en-US" sz="2800" b="1" dirty="0">
                <a:solidFill>
                  <a:srgbClr val="4472C4"/>
                </a:solidFill>
                <a:latin typeface="Cascadia Mono SemiBold" panose="020B0609020000020004" pitchFamily="49" charset="0"/>
                <a:cs typeface="Cascadia Mono SemiBold" panose="020B0609020000020004" pitchFamily="49" charset="0"/>
              </a:rPr>
              <a:t>Godot?</a:t>
            </a:r>
            <a:endParaRPr lang="ru-RU" sz="2800" b="1" dirty="0">
              <a:solidFill>
                <a:srgbClr val="4472C4"/>
              </a:solidFill>
              <a:latin typeface="Cascadia Mono SemiBold" panose="020B0609020000020004" pitchFamily="49" charset="0"/>
              <a:cs typeface="Cascadia Mono SemiBold" panose="020B0609020000020004" pitchFamily="49" charset="0"/>
            </a:endParaRPr>
          </a:p>
        </p:txBody>
      </p:sp>
      <p:sp>
        <p:nvSpPr>
          <p:cNvPr id="6" name="Объект 2">
            <a:extLst>
              <a:ext uri="{FF2B5EF4-FFF2-40B4-BE49-F238E27FC236}">
                <a16:creationId xmlns:a16="http://schemas.microsoft.com/office/drawing/2014/main" id="{A2EF2A5D-0FA2-5F72-5194-3CF997A82AF5}"/>
              </a:ext>
            </a:extLst>
          </p:cNvPr>
          <p:cNvSpPr txBox="1">
            <a:spLocks/>
          </p:cNvSpPr>
          <p:nvPr/>
        </p:nvSpPr>
        <p:spPr>
          <a:xfrm>
            <a:off x="246504" y="4016938"/>
            <a:ext cx="11108338" cy="2327492"/>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dirty="0" err="1">
                <a:latin typeface="Times New Roman" panose="02020603050405020304" pitchFamily="18" charset="0"/>
                <a:cs typeface="Times New Roman" panose="02020603050405020304" pitchFamily="18" charset="0"/>
              </a:rPr>
              <a:t>Godot</a:t>
            </a:r>
            <a:r>
              <a:rPr lang="ru-RU" dirty="0">
                <a:latin typeface="Times New Roman" panose="02020603050405020304" pitchFamily="18" charset="0"/>
                <a:cs typeface="Times New Roman" panose="02020603050405020304" pitchFamily="18" charset="0"/>
              </a:rPr>
              <a:t> Engine - это многофункциональный кроссплатформенный игровой движок для создания 2D и 3D игр с помощью унифицированного интерфейса. Он предоставляет полный набор стандартных инструментов, так что вы можете сосредоточиться на создании игр, не изобретая велосипед. Игры можно экспортировать одним щелчком мыши на ряд платформ, включая основные настольные платформы (Linux, </a:t>
            </a:r>
            <a:r>
              <a:rPr lang="ru-RU" dirty="0" err="1">
                <a:latin typeface="Times New Roman" panose="02020603050405020304" pitchFamily="18" charset="0"/>
                <a:cs typeface="Times New Roman" panose="02020603050405020304" pitchFamily="18" charset="0"/>
              </a:rPr>
              <a:t>macOS</a:t>
            </a:r>
            <a:r>
              <a:rPr lang="ru-RU" dirty="0">
                <a:latin typeface="Times New Roman" panose="02020603050405020304" pitchFamily="18" charset="0"/>
                <a:cs typeface="Times New Roman" panose="02020603050405020304" pitchFamily="18" charset="0"/>
              </a:rPr>
              <a:t>, Windows), а также мобильные (</a:t>
            </a:r>
            <a:r>
              <a:rPr lang="ru-RU" dirty="0" err="1">
                <a:latin typeface="Times New Roman" panose="02020603050405020304" pitchFamily="18" charset="0"/>
                <a:cs typeface="Times New Roman" panose="02020603050405020304" pitchFamily="18" charset="0"/>
              </a:rPr>
              <a:t>Android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iOS</a:t>
            </a:r>
            <a:r>
              <a:rPr lang="ru-RU" dirty="0">
                <a:latin typeface="Times New Roman" panose="02020603050405020304" pitchFamily="18" charset="0"/>
                <a:cs typeface="Times New Roman" panose="02020603050405020304" pitchFamily="18" charset="0"/>
              </a:rPr>
              <a:t>), веб-платформы (HTML5) и консоли (через сторонних поставщиков промежуточного программного обеспечения или издателей).</a:t>
            </a:r>
          </a:p>
        </p:txBody>
      </p:sp>
      <p:pic>
        <p:nvPicPr>
          <p:cNvPr id="3" name="Рисунок 2">
            <a:extLst>
              <a:ext uri="{FF2B5EF4-FFF2-40B4-BE49-F238E27FC236}">
                <a16:creationId xmlns:a16="http://schemas.microsoft.com/office/drawing/2014/main" id="{D29FA7AD-6F8E-A1E8-F2C6-A7292EEFAA11}"/>
              </a:ext>
            </a:extLst>
          </p:cNvPr>
          <p:cNvPicPr>
            <a:picLocks noChangeAspect="1"/>
          </p:cNvPicPr>
          <p:nvPr/>
        </p:nvPicPr>
        <p:blipFill>
          <a:blip r:embed="rId4"/>
          <a:stretch>
            <a:fillRect/>
          </a:stretch>
        </p:blipFill>
        <p:spPr>
          <a:xfrm>
            <a:off x="2225061" y="892531"/>
            <a:ext cx="7151223" cy="2920965"/>
          </a:xfrm>
          <a:prstGeom prst="rect">
            <a:avLst/>
          </a:prstGeom>
        </p:spPr>
      </p:pic>
    </p:spTree>
    <p:extLst>
      <p:ext uri="{BB962C8B-B14F-4D97-AF65-F5344CB8AC3E}">
        <p14:creationId xmlns:p14="http://schemas.microsoft.com/office/powerpoint/2010/main" val="535238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0" y="135497"/>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7070943" y="2474537"/>
            <a:ext cx="5183020" cy="4236000"/>
          </a:xfrm>
          <a:prstGeom prst="rect">
            <a:avLst/>
          </a:prstGeom>
        </p:spPr>
      </p:pic>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1B115ABB-1E75-4934-AC4B-DD6FCFF962DE}"/>
              </a:ext>
            </a:extLst>
          </p:cNvPr>
          <p:cNvSpPr>
            <a:spLocks noGrp="1"/>
          </p:cNvSpPr>
          <p:nvPr>
            <p:ph type="ctrTitle"/>
          </p:nvPr>
        </p:nvSpPr>
        <p:spPr>
          <a:xfrm>
            <a:off x="246505" y="286497"/>
            <a:ext cx="3834428" cy="526304"/>
          </a:xfrm>
        </p:spPr>
        <p:txBody>
          <a:bodyPr>
            <a:noAutofit/>
          </a:bodyPr>
          <a:lstStyle/>
          <a:p>
            <a:pPr algn="l"/>
            <a:r>
              <a:rPr lang="ru-RU" sz="2800" b="1" dirty="0">
                <a:solidFill>
                  <a:srgbClr val="4472C4"/>
                </a:solidFill>
                <a:latin typeface="Cascadia Mono SemiBold" panose="020B0609020000020004" pitchFamily="49" charset="0"/>
                <a:cs typeface="Cascadia Mono SemiBold" panose="020B0609020000020004" pitchFamily="49" charset="0"/>
              </a:rPr>
              <a:t>Как скачать?</a:t>
            </a:r>
          </a:p>
        </p:txBody>
      </p:sp>
      <p:sp>
        <p:nvSpPr>
          <p:cNvPr id="6" name="Объект 2">
            <a:extLst>
              <a:ext uri="{FF2B5EF4-FFF2-40B4-BE49-F238E27FC236}">
                <a16:creationId xmlns:a16="http://schemas.microsoft.com/office/drawing/2014/main" id="{A2EF2A5D-0FA2-5F72-5194-3CF997A82AF5}"/>
              </a:ext>
            </a:extLst>
          </p:cNvPr>
          <p:cNvSpPr txBox="1">
            <a:spLocks/>
          </p:cNvSpPr>
          <p:nvPr/>
        </p:nvSpPr>
        <p:spPr>
          <a:xfrm>
            <a:off x="6756154" y="1992178"/>
            <a:ext cx="5047990" cy="282408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ru-RU" dirty="0">
                <a:latin typeface="Times New Roman" panose="02020603050405020304" pitchFamily="18" charset="0"/>
                <a:cs typeface="Times New Roman" panose="02020603050405020304" pitchFamily="18" charset="0"/>
              </a:rPr>
              <a:t>На сайте </a:t>
            </a:r>
            <a:r>
              <a:rPr lang="ru-RU" b="1" dirty="0"/>
              <a:t>https://godotengine.org/</a:t>
            </a:r>
          </a:p>
          <a:p>
            <a:pPr algn="l"/>
            <a:r>
              <a:rPr lang="ru-RU" dirty="0">
                <a:latin typeface="Times New Roman" panose="02020603050405020304" pitchFamily="18" charset="0"/>
                <a:cs typeface="Times New Roman" panose="02020603050405020304" pitchFamily="18" charset="0"/>
              </a:rPr>
              <a:t>есть вся необходимая информация, различные версии и варианты для платформ, </a:t>
            </a:r>
            <a:r>
              <a:rPr lang="en-US" dirty="0" err="1">
                <a:latin typeface="Times New Roman" panose="02020603050405020304" pitchFamily="18" charset="0"/>
                <a:cs typeface="Times New Roman" panose="02020603050405020304" pitchFamily="18" charset="0"/>
              </a:rPr>
              <a:t>linux</a:t>
            </a:r>
            <a:r>
              <a:rPr lang="en-US" dirty="0">
                <a:latin typeface="Times New Roman" panose="02020603050405020304" pitchFamily="18" charset="0"/>
                <a:cs typeface="Times New Roman" panose="02020603050405020304" pitchFamily="18" charset="0"/>
              </a:rPr>
              <a:t>, windows </a:t>
            </a:r>
            <a:r>
              <a:rPr lang="ru-RU" dirty="0">
                <a:latin typeface="Times New Roman" panose="02020603050405020304" pitchFamily="18" charset="0"/>
                <a:cs typeface="Times New Roman" panose="02020603050405020304" pitchFamily="18" charset="0"/>
              </a:rPr>
              <a:t>и т.д.</a:t>
            </a:r>
          </a:p>
          <a:p>
            <a:pPr algn="l"/>
            <a:r>
              <a:rPr lang="ru-RU" dirty="0">
                <a:latin typeface="Times New Roman" panose="02020603050405020304" pitchFamily="18" charset="0"/>
                <a:cs typeface="Times New Roman" panose="02020603050405020304" pitchFamily="18" charset="0"/>
              </a:rPr>
              <a:t>Есть возможности установки из </a:t>
            </a:r>
            <a:r>
              <a:rPr lang="en-US" dirty="0">
                <a:latin typeface="Times New Roman" panose="02020603050405020304" pitchFamily="18" charset="0"/>
                <a:cs typeface="Times New Roman" panose="02020603050405020304" pitchFamily="18" charset="0"/>
              </a:rPr>
              <a:t>Steam </a:t>
            </a:r>
            <a:r>
              <a:rPr lang="ru-RU" dirty="0">
                <a:latin typeface="Times New Roman" panose="02020603050405020304" pitchFamily="18" charset="0"/>
                <a:cs typeface="Times New Roman" panose="02020603050405020304" pitchFamily="18" charset="0"/>
              </a:rPr>
              <a:t>и других сайтов (в пример </a:t>
            </a:r>
            <a:r>
              <a:rPr lang="en-US" dirty="0">
                <a:latin typeface="Times New Roman" panose="02020603050405020304" pitchFamily="18" charset="0"/>
                <a:cs typeface="Times New Roman" panose="02020603050405020304" pitchFamily="18" charset="0"/>
              </a:rPr>
              <a:t>itch.io)</a:t>
            </a:r>
            <a:r>
              <a:rPr lang="ru-RU" dirty="0">
                <a:latin typeface="Times New Roman" panose="02020603050405020304" pitchFamily="18" charset="0"/>
                <a:cs typeface="Times New Roman" panose="02020603050405020304" pitchFamily="18" charset="0"/>
              </a:rPr>
              <a:t>.</a:t>
            </a:r>
          </a:p>
          <a:p>
            <a:pPr algn="l"/>
            <a:r>
              <a:rPr lang="ru-RU" dirty="0">
                <a:latin typeface="Times New Roman" panose="02020603050405020304" pitchFamily="18" charset="0"/>
                <a:cs typeface="Times New Roman" panose="02020603050405020304" pitchFamily="18" charset="0"/>
              </a:rPr>
              <a:t> </a:t>
            </a:r>
          </a:p>
        </p:txBody>
      </p:sp>
      <p:pic>
        <p:nvPicPr>
          <p:cNvPr id="12" name="Рисунок 11">
            <a:extLst>
              <a:ext uri="{FF2B5EF4-FFF2-40B4-BE49-F238E27FC236}">
                <a16:creationId xmlns:a16="http://schemas.microsoft.com/office/drawing/2014/main" id="{45B53A5A-9B29-6E16-E650-786D432CAD4A}"/>
              </a:ext>
            </a:extLst>
          </p:cNvPr>
          <p:cNvPicPr>
            <a:picLocks noChangeAspect="1"/>
          </p:cNvPicPr>
          <p:nvPr/>
        </p:nvPicPr>
        <p:blipFill>
          <a:blip r:embed="rId4"/>
          <a:stretch>
            <a:fillRect/>
          </a:stretch>
        </p:blipFill>
        <p:spPr>
          <a:xfrm>
            <a:off x="444158" y="1670437"/>
            <a:ext cx="5996745" cy="3743281"/>
          </a:xfrm>
          <a:prstGeom prst="rect">
            <a:avLst/>
          </a:prstGeom>
        </p:spPr>
      </p:pic>
    </p:spTree>
    <p:extLst>
      <p:ext uri="{BB962C8B-B14F-4D97-AF65-F5344CB8AC3E}">
        <p14:creationId xmlns:p14="http://schemas.microsoft.com/office/powerpoint/2010/main" val="310007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7754" y="167963"/>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6946494" y="2474537"/>
            <a:ext cx="5307469" cy="4236000"/>
          </a:xfrm>
          <a:prstGeom prst="rect">
            <a:avLst/>
          </a:prstGeom>
        </p:spPr>
      </p:pic>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1B115ABB-1E75-4934-AC4B-DD6FCFF962DE}"/>
              </a:ext>
            </a:extLst>
          </p:cNvPr>
          <p:cNvSpPr>
            <a:spLocks noGrp="1"/>
          </p:cNvSpPr>
          <p:nvPr>
            <p:ph type="ctrTitle"/>
          </p:nvPr>
        </p:nvSpPr>
        <p:spPr>
          <a:xfrm>
            <a:off x="246504" y="286497"/>
            <a:ext cx="9441781" cy="526304"/>
          </a:xfrm>
        </p:spPr>
        <p:txBody>
          <a:bodyPr>
            <a:noAutofit/>
          </a:bodyPr>
          <a:lstStyle/>
          <a:p>
            <a:pPr algn="l"/>
            <a:r>
              <a:rPr lang="ru-RU" sz="2800" b="1" dirty="0">
                <a:solidFill>
                  <a:srgbClr val="4472C4"/>
                </a:solidFill>
                <a:latin typeface="Cascadia Mono SemiBold" panose="020B0609020000020004" pitchFamily="49" charset="0"/>
                <a:cs typeface="Cascadia Mono SemiBold" panose="020B0609020000020004" pitchFamily="49" charset="0"/>
              </a:rPr>
              <a:t>Мастер-класс</a:t>
            </a:r>
            <a:r>
              <a:rPr lang="en-US" sz="2800" b="1" dirty="0">
                <a:solidFill>
                  <a:srgbClr val="4472C4"/>
                </a:solidFill>
                <a:latin typeface="Cascadia Mono SemiBold" panose="020B0609020000020004" pitchFamily="49" charset="0"/>
                <a:cs typeface="Cascadia Mono SemiBold" panose="020B0609020000020004" pitchFamily="49" charset="0"/>
              </a:rPr>
              <a:t>:</a:t>
            </a:r>
            <a:endParaRPr lang="ru-RU" sz="2800" b="1" dirty="0">
              <a:solidFill>
                <a:srgbClr val="4472C4"/>
              </a:solidFill>
              <a:latin typeface="Cascadia Mono SemiBold" panose="020B0609020000020004" pitchFamily="49" charset="0"/>
              <a:cs typeface="Cascadia Mono SemiBold" panose="020B0609020000020004" pitchFamily="49" charset="0"/>
            </a:endParaRPr>
          </a:p>
        </p:txBody>
      </p:sp>
      <p:pic>
        <p:nvPicPr>
          <p:cNvPr id="1026" name="Picture 2">
            <a:extLst>
              <a:ext uri="{FF2B5EF4-FFF2-40B4-BE49-F238E27FC236}">
                <a16:creationId xmlns:a16="http://schemas.microsoft.com/office/drawing/2014/main" id="{755180B4-3075-9EF4-7CC8-74486EC618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7085" y="3975269"/>
            <a:ext cx="2611800" cy="2611800"/>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6A76BF5D-2A9F-722B-BD40-BCF653F386EB}"/>
              </a:ext>
            </a:extLst>
          </p:cNvPr>
          <p:cNvSpPr txBox="1">
            <a:spLocks/>
          </p:cNvSpPr>
          <p:nvPr/>
        </p:nvSpPr>
        <p:spPr>
          <a:xfrm>
            <a:off x="631995" y="3166058"/>
            <a:ext cx="4565962" cy="303878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ru-RU" dirty="0">
                <a:latin typeface="Times New Roman" panose="02020603050405020304" pitchFamily="18" charset="0"/>
                <a:cs typeface="Times New Roman" panose="02020603050405020304" pitchFamily="18" charset="0"/>
              </a:rPr>
              <a:t>Для мастер-класса был создан репозиторий </a:t>
            </a:r>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в котором расположена основная информация о мастер классе, готовый проект</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что получится по окончанию мастер класса и текстовая инструкция с материалами (которую можно выдавать обучающимся для попыток программирования).</a:t>
            </a:r>
          </a:p>
        </p:txBody>
      </p:sp>
      <p:pic>
        <p:nvPicPr>
          <p:cNvPr id="7" name="Рисунок 6">
            <a:extLst>
              <a:ext uri="{FF2B5EF4-FFF2-40B4-BE49-F238E27FC236}">
                <a16:creationId xmlns:a16="http://schemas.microsoft.com/office/drawing/2014/main" id="{45079B3F-8528-98E7-1D9B-AF502954EE83}"/>
              </a:ext>
            </a:extLst>
          </p:cNvPr>
          <p:cNvPicPr>
            <a:picLocks noChangeAspect="1"/>
          </p:cNvPicPr>
          <p:nvPr/>
        </p:nvPicPr>
        <p:blipFill>
          <a:blip r:embed="rId5"/>
          <a:stretch>
            <a:fillRect/>
          </a:stretch>
        </p:blipFill>
        <p:spPr>
          <a:xfrm>
            <a:off x="3983280" y="293494"/>
            <a:ext cx="7832378" cy="2728025"/>
          </a:xfrm>
          <a:prstGeom prst="rect">
            <a:avLst/>
          </a:prstGeom>
        </p:spPr>
      </p:pic>
      <p:sp>
        <p:nvSpPr>
          <p:cNvPr id="4" name="Объект 2">
            <a:extLst>
              <a:ext uri="{FF2B5EF4-FFF2-40B4-BE49-F238E27FC236}">
                <a16:creationId xmlns:a16="http://schemas.microsoft.com/office/drawing/2014/main" id="{D31B6E57-1896-719E-41F0-2FC6B7907E67}"/>
              </a:ext>
            </a:extLst>
          </p:cNvPr>
          <p:cNvSpPr txBox="1">
            <a:spLocks/>
          </p:cNvSpPr>
          <p:nvPr/>
        </p:nvSpPr>
        <p:spPr>
          <a:xfrm>
            <a:off x="5655023" y="3622758"/>
            <a:ext cx="5663862" cy="16598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https://gith</a:t>
            </a:r>
            <a:r>
              <a:rPr lang="ru-RU" dirty="0">
                <a:latin typeface="Times New Roman" panose="02020603050405020304" pitchFamily="18" charset="0"/>
                <a:cs typeface="Times New Roman" panose="02020603050405020304" pitchFamily="18" charset="0"/>
              </a:rPr>
              <a:t>э</a:t>
            </a:r>
            <a:r>
              <a:rPr lang="en-US" dirty="0">
                <a:latin typeface="Times New Roman" panose="02020603050405020304" pitchFamily="18" charset="0"/>
                <a:cs typeface="Times New Roman" panose="02020603050405020304" pitchFamily="18" charset="0"/>
              </a:rPr>
              <a:t>ub.com/Coulneff/easy_platformer/tree/main</a:t>
            </a:r>
            <a:endParaRPr lang="ru-RU" dirty="0">
              <a:latin typeface="Times New Roman" panose="02020603050405020304" pitchFamily="18" charset="0"/>
              <a:cs typeface="Times New Roman" panose="02020603050405020304" pitchFamily="18" charset="0"/>
            </a:endParaRPr>
          </a:p>
        </p:txBody>
      </p:sp>
      <p:sp>
        <p:nvSpPr>
          <p:cNvPr id="12" name="Объект 2">
            <a:extLst>
              <a:ext uri="{FF2B5EF4-FFF2-40B4-BE49-F238E27FC236}">
                <a16:creationId xmlns:a16="http://schemas.microsoft.com/office/drawing/2014/main" id="{DEAE18D9-862C-5EA0-00AE-82BA1590069A}"/>
              </a:ext>
            </a:extLst>
          </p:cNvPr>
          <p:cNvSpPr txBox="1">
            <a:spLocks/>
          </p:cNvSpPr>
          <p:nvPr/>
        </p:nvSpPr>
        <p:spPr>
          <a:xfrm>
            <a:off x="5609665" y="3166058"/>
            <a:ext cx="6216919" cy="4533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ru-RU" b="1" dirty="0">
                <a:latin typeface="Times New Roman" panose="02020603050405020304" pitchFamily="18" charset="0"/>
                <a:cs typeface="Times New Roman" panose="02020603050405020304" pitchFamily="18" charset="0"/>
              </a:rPr>
              <a:t>Ссылка и </a:t>
            </a:r>
            <a:r>
              <a:rPr lang="en-US" b="1" dirty="0" err="1">
                <a:latin typeface="Times New Roman" panose="02020603050405020304" pitchFamily="18" charset="0"/>
                <a:cs typeface="Times New Roman" panose="02020603050405020304" pitchFamily="18" charset="0"/>
              </a:rPr>
              <a:t>qr</a:t>
            </a:r>
            <a:r>
              <a:rPr lang="ru-RU" b="1" dirty="0">
                <a:latin typeface="Times New Roman" panose="02020603050405020304" pitchFamily="18" charset="0"/>
                <a:cs typeface="Times New Roman" panose="02020603050405020304" pitchFamily="18" charset="0"/>
              </a:rPr>
              <a:t>-код на </a:t>
            </a:r>
            <a:r>
              <a:rPr lang="en-US" b="1" dirty="0" err="1">
                <a:latin typeface="Times New Roman" panose="02020603050405020304" pitchFamily="18" charset="0"/>
                <a:cs typeface="Times New Roman" panose="02020603050405020304" pitchFamily="18" charset="0"/>
              </a:rPr>
              <a:t>github</a:t>
            </a:r>
            <a:r>
              <a:rPr lang="en-US" b="1" dirty="0">
                <a:latin typeface="Times New Roman" panose="02020603050405020304" pitchFamily="18" charset="0"/>
                <a:cs typeface="Times New Roman" panose="02020603050405020304" pitchFamily="18" charset="0"/>
              </a:rPr>
              <a:t>:</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751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7754" y="167963"/>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6946494" y="2474537"/>
            <a:ext cx="5307469" cy="4236000"/>
          </a:xfrm>
          <a:prstGeom prst="rect">
            <a:avLst/>
          </a:prstGeom>
        </p:spPr>
      </p:pic>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1B115ABB-1E75-4934-AC4B-DD6FCFF962DE}"/>
              </a:ext>
            </a:extLst>
          </p:cNvPr>
          <p:cNvSpPr>
            <a:spLocks noGrp="1"/>
          </p:cNvSpPr>
          <p:nvPr>
            <p:ph type="ctrTitle"/>
          </p:nvPr>
        </p:nvSpPr>
        <p:spPr>
          <a:xfrm>
            <a:off x="246504" y="286497"/>
            <a:ext cx="9441781" cy="526304"/>
          </a:xfrm>
        </p:spPr>
        <p:txBody>
          <a:bodyPr>
            <a:noAutofit/>
          </a:bodyPr>
          <a:lstStyle/>
          <a:p>
            <a:pPr algn="l"/>
            <a:r>
              <a:rPr lang="ru-RU" sz="2800" b="1" dirty="0">
                <a:solidFill>
                  <a:srgbClr val="4472C4"/>
                </a:solidFill>
                <a:latin typeface="Cascadia Mono SemiBold" panose="020B0609020000020004" pitchFamily="49" charset="0"/>
                <a:cs typeface="Cascadia Mono SemiBold" panose="020B0609020000020004" pitchFamily="49" charset="0"/>
              </a:rPr>
              <a:t>Заключение</a:t>
            </a:r>
          </a:p>
        </p:txBody>
      </p:sp>
      <p:sp>
        <p:nvSpPr>
          <p:cNvPr id="5" name="Объект 2">
            <a:extLst>
              <a:ext uri="{FF2B5EF4-FFF2-40B4-BE49-F238E27FC236}">
                <a16:creationId xmlns:a16="http://schemas.microsoft.com/office/drawing/2014/main" id="{6A76BF5D-2A9F-722B-BD40-BCF653F386EB}"/>
              </a:ext>
            </a:extLst>
          </p:cNvPr>
          <p:cNvSpPr txBox="1">
            <a:spLocks/>
          </p:cNvSpPr>
          <p:nvPr/>
        </p:nvSpPr>
        <p:spPr>
          <a:xfrm>
            <a:off x="413869" y="1031564"/>
            <a:ext cx="5429102" cy="4637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ru-RU" dirty="0">
                <a:latin typeface="Times New Roman" panose="02020603050405020304" pitchFamily="18" charset="0"/>
                <a:cs typeface="Times New Roman" panose="02020603050405020304" pitchFamily="18" charset="0"/>
              </a:rPr>
              <a:t>По итогу мастер-класса вы получите простой платформе в </a:t>
            </a:r>
            <a:r>
              <a:rPr lang="en-US" dirty="0">
                <a:latin typeface="Times New Roman" panose="02020603050405020304" pitchFamily="18" charset="0"/>
                <a:cs typeface="Times New Roman" panose="02020603050405020304" pitchFamily="18" charset="0"/>
              </a:rPr>
              <a:t>Godot</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ru-RU" dirty="0">
                <a:latin typeface="Times New Roman" panose="02020603050405020304" pitchFamily="18" charset="0"/>
                <a:cs typeface="Times New Roman" panose="02020603050405020304" pitchFamily="18" charset="0"/>
              </a:rPr>
              <a:t>Во время которого был разработан персонаж с возможностью передвижения и отображения анимации.</a:t>
            </a:r>
          </a:p>
          <a:p>
            <a:pPr algn="just"/>
            <a:r>
              <a:rPr lang="ru-RU" dirty="0">
                <a:latin typeface="Times New Roman" panose="02020603050405020304" pitchFamily="18" charset="0"/>
                <a:cs typeface="Times New Roman" panose="02020603050405020304" pitchFamily="18" charset="0"/>
              </a:rPr>
              <a:t>Кроме игрового персонажа создана платформа на которой игрок сможет передвигаться и двигаться.</a:t>
            </a:r>
          </a:p>
        </p:txBody>
      </p:sp>
      <p:pic>
        <p:nvPicPr>
          <p:cNvPr id="6" name="Рисунок 5">
            <a:extLst>
              <a:ext uri="{FF2B5EF4-FFF2-40B4-BE49-F238E27FC236}">
                <a16:creationId xmlns:a16="http://schemas.microsoft.com/office/drawing/2014/main" id="{6B761196-78FC-D030-FE66-A8D67C93B5A7}"/>
              </a:ext>
            </a:extLst>
          </p:cNvPr>
          <p:cNvPicPr>
            <a:picLocks noChangeAspect="1"/>
          </p:cNvPicPr>
          <p:nvPr/>
        </p:nvPicPr>
        <p:blipFill>
          <a:blip r:embed="rId6"/>
          <a:stretch>
            <a:fillRect/>
          </a:stretch>
        </p:blipFill>
        <p:spPr>
          <a:xfrm>
            <a:off x="7047383" y="415978"/>
            <a:ext cx="4730750" cy="2787650"/>
          </a:xfrm>
          <a:prstGeom prst="rect">
            <a:avLst/>
          </a:prstGeom>
        </p:spPr>
      </p:pic>
      <p:pic>
        <p:nvPicPr>
          <p:cNvPr id="3" name="2025-03-31 13-48-34">
            <a:hlinkClick r:id="" action="ppaction://media"/>
            <a:extLst>
              <a:ext uri="{FF2B5EF4-FFF2-40B4-BE49-F238E27FC236}">
                <a16:creationId xmlns:a16="http://schemas.microsoft.com/office/drawing/2014/main" id="{690170B3-E603-027E-9999-176A3C97FD0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7047381" y="3219604"/>
            <a:ext cx="4730750" cy="2661092"/>
          </a:xfrm>
          <a:prstGeom prst="rect">
            <a:avLst/>
          </a:prstGeom>
        </p:spPr>
      </p:pic>
    </p:spTree>
    <p:extLst>
      <p:ext uri="{BB962C8B-B14F-4D97-AF65-F5344CB8AC3E}">
        <p14:creationId xmlns:p14="http://schemas.microsoft.com/office/powerpoint/2010/main" val="270865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3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66E8CB96-DF71-45FE-B2BB-582723080E8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r="54882" b="39579"/>
          <a:stretch/>
        </p:blipFill>
        <p:spPr>
          <a:xfrm>
            <a:off x="85509" y="91742"/>
            <a:ext cx="5500805" cy="3813678"/>
          </a:xfrm>
          <a:prstGeom prst="rect">
            <a:avLst/>
          </a:prstGeom>
          <a:effectLst>
            <a:reflection endPos="0" dist="50800" dir="5400000" sy="-100000" algn="bl" rotWithShape="0"/>
          </a:effectLst>
        </p:spPr>
      </p:pic>
      <p:pic>
        <p:nvPicPr>
          <p:cNvPr id="22" name="Рисунок 21">
            <a:extLst>
              <a:ext uri="{FF2B5EF4-FFF2-40B4-BE49-F238E27FC236}">
                <a16:creationId xmlns:a16="http://schemas.microsoft.com/office/drawing/2014/main" id="{7823E533-1143-4526-BB62-37ECE67DA5F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57346" t="32212" r="-878" b="676"/>
          <a:stretch/>
        </p:blipFill>
        <p:spPr>
          <a:xfrm>
            <a:off x="7670578" y="3532426"/>
            <a:ext cx="5307469" cy="4236000"/>
          </a:xfrm>
          <a:prstGeom prst="rect">
            <a:avLst/>
          </a:prstGeom>
        </p:spPr>
      </p:pic>
      <p:sp>
        <p:nvSpPr>
          <p:cNvPr id="2" name="Заголовок 1">
            <a:extLst>
              <a:ext uri="{FF2B5EF4-FFF2-40B4-BE49-F238E27FC236}">
                <a16:creationId xmlns:a16="http://schemas.microsoft.com/office/drawing/2014/main" id="{957DD340-3C1A-421F-B36C-53950481F6DD}"/>
              </a:ext>
            </a:extLst>
          </p:cNvPr>
          <p:cNvSpPr>
            <a:spLocks noGrp="1"/>
          </p:cNvSpPr>
          <p:nvPr>
            <p:ph type="ctrTitle"/>
          </p:nvPr>
        </p:nvSpPr>
        <p:spPr>
          <a:xfrm>
            <a:off x="2350690" y="3681691"/>
            <a:ext cx="7231721" cy="593056"/>
          </a:xfrm>
        </p:spPr>
        <p:txBody>
          <a:bodyPr>
            <a:noAutofit/>
          </a:bodyPr>
          <a:lstStyle/>
          <a:p>
            <a:r>
              <a:rPr lang="ru-RU" sz="3600" b="1" dirty="0">
                <a:solidFill>
                  <a:srgbClr val="4472C4"/>
                </a:solidFill>
                <a:latin typeface="Cascadia Mono SemiBold" panose="020B0609020000020004" pitchFamily="49" charset="0"/>
                <a:cs typeface="Cascadia Mono SemiBold" panose="020B0609020000020004" pitchFamily="49" charset="0"/>
              </a:rPr>
              <a:t>Простой </a:t>
            </a:r>
            <a:r>
              <a:rPr lang="ru-RU" sz="3600" b="1" dirty="0" err="1">
                <a:solidFill>
                  <a:srgbClr val="4472C4"/>
                </a:solidFill>
                <a:latin typeface="Cascadia Mono SemiBold" panose="020B0609020000020004" pitchFamily="49" charset="0"/>
                <a:cs typeface="Cascadia Mono SemiBold" panose="020B0609020000020004" pitchFamily="49" charset="0"/>
              </a:rPr>
              <a:t>платформер</a:t>
            </a:r>
            <a:r>
              <a:rPr lang="ru-RU" sz="3600" b="1" dirty="0">
                <a:solidFill>
                  <a:srgbClr val="4472C4"/>
                </a:solidFill>
                <a:latin typeface="Cascadia Mono SemiBold" panose="020B0609020000020004" pitchFamily="49" charset="0"/>
                <a:cs typeface="Cascadia Mono SemiBold" panose="020B0609020000020004" pitchFamily="49" charset="0"/>
              </a:rPr>
              <a:t> в </a:t>
            </a:r>
            <a:r>
              <a:rPr lang="en-US" sz="3600" b="1" dirty="0">
                <a:solidFill>
                  <a:srgbClr val="4472C4"/>
                </a:solidFill>
                <a:latin typeface="Cascadia Mono SemiBold" panose="020B0609020000020004" pitchFamily="49" charset="0"/>
                <a:cs typeface="Cascadia Mono SemiBold" panose="020B0609020000020004" pitchFamily="49" charset="0"/>
              </a:rPr>
              <a:t>Godot</a:t>
            </a:r>
            <a:endParaRPr lang="ru-RU" sz="3600" b="1" dirty="0">
              <a:solidFill>
                <a:srgbClr val="4472C4"/>
              </a:solidFill>
              <a:latin typeface="Cascadia Mono SemiBold" panose="020B0609020000020004" pitchFamily="49" charset="0"/>
              <a:cs typeface="Cascadia Mono SemiBold" panose="020B0609020000020004" pitchFamily="49" charset="0"/>
            </a:endParaRPr>
          </a:p>
        </p:txBody>
      </p:sp>
      <p:sp>
        <p:nvSpPr>
          <p:cNvPr id="6" name="Прямоугольник 5">
            <a:extLst>
              <a:ext uri="{FF2B5EF4-FFF2-40B4-BE49-F238E27FC236}">
                <a16:creationId xmlns:a16="http://schemas.microsoft.com/office/drawing/2014/main" id="{331B4D84-FFAE-41DA-A350-61E888A85AF7}"/>
              </a:ext>
            </a:extLst>
          </p:cNvPr>
          <p:cNvSpPr/>
          <p:nvPr/>
        </p:nvSpPr>
        <p:spPr>
          <a:xfrm>
            <a:off x="1517848" y="384132"/>
            <a:ext cx="9177866" cy="954107"/>
          </a:xfrm>
          <a:prstGeom prst="rect">
            <a:avLst/>
          </a:prstGeom>
        </p:spPr>
        <p:txBody>
          <a:bodyPr wrap="square">
            <a:spAutoFit/>
          </a:bodyPr>
          <a:lstStyle/>
          <a:p>
            <a:pPr algn="ctr"/>
            <a:r>
              <a:rPr lang="ru-RU" sz="1400" dirty="0">
                <a:solidFill>
                  <a:schemeClr val="bg1"/>
                </a:solidFill>
                <a:latin typeface="Times New Roman" panose="02020603050405020304" pitchFamily="18" charset="0"/>
                <a:cs typeface="Times New Roman" panose="02020603050405020304" pitchFamily="18" charset="0"/>
              </a:rPr>
              <a:t>МИНИСТЕРСТВО ОБРАЗОВАНИЯ ВОРОНЕЖСКОЙ ОБЛАСТИ </a:t>
            </a:r>
          </a:p>
          <a:p>
            <a:pPr algn="ctr"/>
            <a:r>
              <a:rPr lang="ru-RU" sz="1400" dirty="0">
                <a:solidFill>
                  <a:schemeClr val="bg1"/>
                </a:solidFill>
                <a:latin typeface="Times New Roman" panose="02020603050405020304" pitchFamily="18" charset="0"/>
                <a:cs typeface="Times New Roman" panose="02020603050405020304" pitchFamily="18" charset="0"/>
              </a:rPr>
              <a:t>ГОСУДАРСТВЕННОЕ БЮДЖЕТНОЕ ПРОФЕССИОНАЛЬНОЕ ОБРАЗОВАТЕЛЬНОЕ УЧРЕЖДЕНИЕ ВОРОНЕЖСКОЙ ОБЛАСТИ «</a:t>
            </a:r>
            <a:r>
              <a:rPr lang="ru-RU" sz="1200" dirty="0">
                <a:solidFill>
                  <a:schemeClr val="bg1"/>
                </a:solidFill>
                <a:latin typeface="Times New Roman" panose="02020603050405020304" pitchFamily="18" charset="0"/>
                <a:cs typeface="Times New Roman" panose="02020603050405020304" pitchFamily="18" charset="0"/>
              </a:rPr>
              <a:t>СЕМИЛУКСКИЙ</a:t>
            </a:r>
            <a:r>
              <a:rPr lang="ru-RU" sz="1400" dirty="0">
                <a:solidFill>
                  <a:schemeClr val="bg1"/>
                </a:solidFill>
                <a:latin typeface="Times New Roman" panose="02020603050405020304" pitchFamily="18" charset="0"/>
                <a:cs typeface="Times New Roman" panose="02020603050405020304" pitchFamily="18" charset="0"/>
              </a:rPr>
              <a:t> ПОЛИТЕХНИЧЕСКИЙ КОЛЛЕДЖ»</a:t>
            </a:r>
            <a:endParaRPr lang="en-US" sz="1400" dirty="0">
              <a:solidFill>
                <a:schemeClr val="bg1"/>
              </a:solidFill>
              <a:latin typeface="Times New Roman" panose="02020603050405020304" pitchFamily="18" charset="0"/>
              <a:cs typeface="Times New Roman" panose="02020603050405020304" pitchFamily="18" charset="0"/>
            </a:endParaRPr>
          </a:p>
          <a:p>
            <a:pPr algn="ctr"/>
            <a:r>
              <a:rPr lang="ru-RU" sz="1400" dirty="0">
                <a:solidFill>
                  <a:schemeClr val="bg1"/>
                </a:solidFill>
                <a:latin typeface="Times New Roman" panose="02020603050405020304" pitchFamily="18" charset="0"/>
                <a:cs typeface="Times New Roman" panose="02020603050405020304" pitchFamily="18" charset="0"/>
              </a:rPr>
              <a:t>Центр цифрового образования детей «</a:t>
            </a:r>
            <a:r>
              <a:rPr lang="en-US" sz="1400" dirty="0">
                <a:solidFill>
                  <a:schemeClr val="bg1"/>
                </a:solidFill>
                <a:latin typeface="Times New Roman" panose="02020603050405020304" pitchFamily="18" charset="0"/>
                <a:cs typeface="Times New Roman" panose="02020603050405020304" pitchFamily="18" charset="0"/>
              </a:rPr>
              <a:t>IT</a:t>
            </a:r>
            <a:r>
              <a:rPr lang="ru-RU" sz="1400" dirty="0">
                <a:solidFill>
                  <a:schemeClr val="bg1"/>
                </a:solidFill>
                <a:latin typeface="Times New Roman" panose="02020603050405020304" pitchFamily="18" charset="0"/>
                <a:cs typeface="Times New Roman" panose="02020603050405020304" pitchFamily="18" charset="0"/>
              </a:rPr>
              <a:t>-Куб» </a:t>
            </a:r>
            <a:endParaRPr lang="ru-RU" sz="1400" b="1" dirty="0">
              <a:solidFill>
                <a:schemeClr val="bg1"/>
              </a:solidFill>
              <a:latin typeface="Times New Roman" panose="02020603050405020304" pitchFamily="18" charset="0"/>
              <a:ea typeface="+mj-ea"/>
              <a:cs typeface="Times New Roman" panose="02020603050405020304" pitchFamily="18" charset="0"/>
            </a:endParaRPr>
          </a:p>
        </p:txBody>
      </p:sp>
      <p:cxnSp>
        <p:nvCxnSpPr>
          <p:cNvPr id="8" name="Прямая соединительная линия 7">
            <a:extLst>
              <a:ext uri="{FF2B5EF4-FFF2-40B4-BE49-F238E27FC236}">
                <a16:creationId xmlns:a16="http://schemas.microsoft.com/office/drawing/2014/main" id="{876E07E9-4325-4C6A-BA6E-BCC06F74E142}"/>
              </a:ext>
            </a:extLst>
          </p:cNvPr>
          <p:cNvCxnSpPr/>
          <p:nvPr/>
        </p:nvCxnSpPr>
        <p:spPr>
          <a:xfrm>
            <a:off x="0" y="67733"/>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41C1001-4DFC-4C15-B738-057BD881E755}"/>
              </a:ext>
            </a:extLst>
          </p:cNvPr>
          <p:cNvCxnSpPr/>
          <p:nvPr/>
        </p:nvCxnSpPr>
        <p:spPr>
          <a:xfrm>
            <a:off x="0" y="6790267"/>
            <a:ext cx="12192000" cy="0"/>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B76B27F8-0490-4EEB-9F28-0CB3C171D1C6}"/>
              </a:ext>
            </a:extLst>
          </p:cNvPr>
          <p:cNvCxnSpPr>
            <a:cxnSpLocks/>
          </p:cNvCxnSpPr>
          <p:nvPr/>
        </p:nvCxnSpPr>
        <p:spPr>
          <a:xfrm>
            <a:off x="68575" y="112306"/>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C5BFEF79-7874-456E-A7F5-FA4DBBCDCD12}"/>
              </a:ext>
            </a:extLst>
          </p:cNvPr>
          <p:cNvCxnSpPr>
            <a:cxnSpLocks/>
          </p:cNvCxnSpPr>
          <p:nvPr/>
        </p:nvCxnSpPr>
        <p:spPr>
          <a:xfrm>
            <a:off x="12128053" y="135497"/>
            <a:ext cx="0" cy="6677961"/>
          </a:xfrm>
          <a:prstGeom prst="line">
            <a:avLst/>
          </a:prstGeom>
          <a:ln w="142875"/>
        </p:spPr>
        <p:style>
          <a:lnRef idx="1">
            <a:schemeClr val="accent1"/>
          </a:lnRef>
          <a:fillRef idx="0">
            <a:schemeClr val="accent1"/>
          </a:fillRef>
          <a:effectRef idx="0">
            <a:schemeClr val="accent1"/>
          </a:effectRef>
          <a:fontRef idx="minor">
            <a:schemeClr val="tx1"/>
          </a:fontRef>
        </p:style>
      </p:cxnSp>
      <p:sp>
        <p:nvSpPr>
          <p:cNvPr id="18" name="Прямоугольник 17">
            <a:extLst>
              <a:ext uri="{FF2B5EF4-FFF2-40B4-BE49-F238E27FC236}">
                <a16:creationId xmlns:a16="http://schemas.microsoft.com/office/drawing/2014/main" id="{207D5FE4-4129-460D-AB37-E05511348873}"/>
              </a:ext>
            </a:extLst>
          </p:cNvPr>
          <p:cNvSpPr/>
          <p:nvPr/>
        </p:nvSpPr>
        <p:spPr>
          <a:xfrm>
            <a:off x="9411679" y="5090780"/>
            <a:ext cx="2619714" cy="830997"/>
          </a:xfrm>
          <a:prstGeom prst="rect">
            <a:avLst/>
          </a:prstGeom>
        </p:spPr>
        <p:txBody>
          <a:bodyPr wrap="square">
            <a:spAutoFit/>
          </a:bodyPr>
          <a:lstStyle/>
          <a:p>
            <a:pPr algn="r"/>
            <a:r>
              <a:rPr lang="ru-RU" sz="2400" dirty="0" err="1">
                <a:latin typeface="Times New Roman" panose="02020603050405020304" pitchFamily="18" charset="0"/>
                <a:cs typeface="Times New Roman" panose="02020603050405020304" pitchFamily="18" charset="0"/>
              </a:rPr>
              <a:t>Кульнев</a:t>
            </a:r>
            <a:r>
              <a:rPr lang="ru-RU" sz="2400" dirty="0">
                <a:latin typeface="Times New Roman" panose="02020603050405020304" pitchFamily="18" charset="0"/>
                <a:cs typeface="Times New Roman" panose="02020603050405020304" pitchFamily="18" charset="0"/>
              </a:rPr>
              <a:t> Н.В.</a:t>
            </a:r>
          </a:p>
          <a:p>
            <a:pPr algn="r"/>
            <a:r>
              <a:rPr lang="ru-RU" sz="2400" dirty="0">
                <a:latin typeface="Times New Roman" panose="02020603050405020304" pitchFamily="18" charset="0"/>
                <a:cs typeface="Times New Roman" panose="02020603050405020304" pitchFamily="18" charset="0"/>
              </a:rPr>
              <a:t>Педагог ДО</a:t>
            </a:r>
          </a:p>
        </p:txBody>
      </p:sp>
      <p:sp>
        <p:nvSpPr>
          <p:cNvPr id="19" name="Прямоугольник 18">
            <a:extLst>
              <a:ext uri="{FF2B5EF4-FFF2-40B4-BE49-F238E27FC236}">
                <a16:creationId xmlns:a16="http://schemas.microsoft.com/office/drawing/2014/main" id="{46B7B384-FDDD-4C30-B744-A449350DD55E}"/>
              </a:ext>
            </a:extLst>
          </p:cNvPr>
          <p:cNvSpPr/>
          <p:nvPr/>
        </p:nvSpPr>
        <p:spPr>
          <a:xfrm>
            <a:off x="21563" y="6248872"/>
            <a:ext cx="12170437" cy="461665"/>
          </a:xfrm>
          <a:prstGeom prst="rect">
            <a:avLst/>
          </a:prstGeom>
        </p:spPr>
        <p:txBody>
          <a:bodyPr wrap="square">
            <a:spAutoFit/>
          </a:bodyPr>
          <a:lstStyle/>
          <a:p>
            <a:pPr algn="ctr"/>
            <a:r>
              <a:rPr lang="ru-RU" sz="2400" b="1" dirty="0">
                <a:solidFill>
                  <a:schemeClr val="bg2">
                    <a:lumMod val="75000"/>
                  </a:schemeClr>
                </a:solidFill>
                <a:latin typeface="Times New Roman" panose="02020603050405020304" pitchFamily="18" charset="0"/>
                <a:cs typeface="Times New Roman" panose="02020603050405020304" pitchFamily="18" charset="0"/>
              </a:rPr>
              <a:t>202</a:t>
            </a:r>
            <a:r>
              <a:rPr lang="en-US" sz="2400" b="1" dirty="0">
                <a:solidFill>
                  <a:schemeClr val="bg2">
                    <a:lumMod val="75000"/>
                  </a:schemeClr>
                </a:solidFill>
                <a:latin typeface="Times New Roman" panose="02020603050405020304" pitchFamily="18" charset="0"/>
                <a:cs typeface="Times New Roman" panose="02020603050405020304" pitchFamily="18" charset="0"/>
              </a:rPr>
              <a:t>5</a:t>
            </a:r>
            <a:endParaRPr lang="ru-RU" sz="2400" dirty="0">
              <a:solidFill>
                <a:schemeClr val="bg2">
                  <a:lumMod val="75000"/>
                </a:schemeClr>
              </a:solidFill>
              <a:latin typeface="Times New Roman" panose="02020603050405020304" pitchFamily="18" charset="0"/>
              <a:cs typeface="Times New Roman" panose="02020603050405020304" pitchFamily="18" charset="0"/>
            </a:endParaRPr>
          </a:p>
        </p:txBody>
      </p:sp>
      <p:pic>
        <p:nvPicPr>
          <p:cNvPr id="15" name="Рисунок 14" descr="Изображение выглядит как снимок экрана, Графика, дизайн&#10;&#10;Контент, сгенерированный ИИ, может содержать ошибки.">
            <a:extLst>
              <a:ext uri="{FF2B5EF4-FFF2-40B4-BE49-F238E27FC236}">
                <a16:creationId xmlns:a16="http://schemas.microsoft.com/office/drawing/2014/main" id="{602074B2-32FD-DE3F-5715-7C8A6C837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571" y="181195"/>
            <a:ext cx="1289301" cy="1487948"/>
          </a:xfrm>
          <a:prstGeom prst="rect">
            <a:avLst/>
          </a:prstGeom>
        </p:spPr>
      </p:pic>
      <p:sp>
        <p:nvSpPr>
          <p:cNvPr id="17" name="Заголовок 1">
            <a:extLst>
              <a:ext uri="{FF2B5EF4-FFF2-40B4-BE49-F238E27FC236}">
                <a16:creationId xmlns:a16="http://schemas.microsoft.com/office/drawing/2014/main" id="{80FEBD5C-78D0-AE65-F2F6-792DA0D28D60}"/>
              </a:ext>
            </a:extLst>
          </p:cNvPr>
          <p:cNvSpPr txBox="1">
            <a:spLocks/>
          </p:cNvSpPr>
          <p:nvPr/>
        </p:nvSpPr>
        <p:spPr>
          <a:xfrm>
            <a:off x="2420260" y="3312364"/>
            <a:ext cx="5872504" cy="3461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ru-RU" sz="2800" b="1" dirty="0">
                <a:solidFill>
                  <a:schemeClr val="bg2">
                    <a:lumMod val="50000"/>
                  </a:schemeClr>
                </a:solidFill>
                <a:latin typeface="Cascadia Mono SemiBold" panose="020B0609020000020004" pitchFamily="49" charset="0"/>
                <a:cs typeface="Cascadia Mono SemiBold" panose="020B0609020000020004" pitchFamily="49" charset="0"/>
              </a:rPr>
              <a:t>Мастер-класс</a:t>
            </a:r>
          </a:p>
        </p:txBody>
      </p:sp>
      <p:sp>
        <p:nvSpPr>
          <p:cNvPr id="3" name="Заголовок 1">
            <a:extLst>
              <a:ext uri="{FF2B5EF4-FFF2-40B4-BE49-F238E27FC236}">
                <a16:creationId xmlns:a16="http://schemas.microsoft.com/office/drawing/2014/main" id="{8B652A7E-9902-36F7-7A8A-C2FAF71774B2}"/>
              </a:ext>
            </a:extLst>
          </p:cNvPr>
          <p:cNvSpPr txBox="1">
            <a:spLocks/>
          </p:cNvSpPr>
          <p:nvPr/>
        </p:nvSpPr>
        <p:spPr>
          <a:xfrm>
            <a:off x="2420260" y="2441921"/>
            <a:ext cx="5696153" cy="82144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ГБПОУ ВО «СПК» </a:t>
            </a:r>
          </a:p>
          <a:p>
            <a:pPr algn="l"/>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ЦЦОД </a:t>
            </a:r>
            <a:r>
              <a:rPr lang="en-US" sz="2800" b="1" dirty="0">
                <a:solidFill>
                  <a:schemeClr val="bg2">
                    <a:lumMod val="75000"/>
                  </a:schemeClr>
                </a:solidFill>
                <a:latin typeface="Cascadia Mono SemiBold" panose="020B0609020000020004" pitchFamily="49" charset="0"/>
                <a:cs typeface="Cascadia Mono SemiBold" panose="020B0609020000020004" pitchFamily="49" charset="0"/>
              </a:rPr>
              <a:t>IT-</a:t>
            </a:r>
            <a:r>
              <a:rPr lang="ru-RU" sz="2800" b="1" dirty="0">
                <a:solidFill>
                  <a:schemeClr val="bg2">
                    <a:lumMod val="75000"/>
                  </a:schemeClr>
                </a:solidFill>
                <a:latin typeface="Cascadia Mono SemiBold" panose="020B0609020000020004" pitchFamily="49" charset="0"/>
                <a:cs typeface="Cascadia Mono SemiBold" panose="020B0609020000020004" pitchFamily="49" charset="0"/>
              </a:rPr>
              <a:t>Куб</a:t>
            </a:r>
          </a:p>
        </p:txBody>
      </p:sp>
    </p:spTree>
    <p:extLst>
      <p:ext uri="{BB962C8B-B14F-4D97-AF65-F5344CB8AC3E}">
        <p14:creationId xmlns:p14="http://schemas.microsoft.com/office/powerpoint/2010/main" val="336169033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671</TotalTime>
  <Words>355</Words>
  <Application>Microsoft Office PowerPoint</Application>
  <PresentationFormat>Широкоэкранный</PresentationFormat>
  <Paragraphs>39</Paragraphs>
  <Slides>7</Slides>
  <Notes>0</Notes>
  <HiddenSlides>0</HiddenSlides>
  <MMClips>1</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7</vt:i4>
      </vt:variant>
    </vt:vector>
  </HeadingPairs>
  <TitlesOfParts>
    <vt:vector size="13" baseType="lpstr">
      <vt:lpstr>Arial</vt:lpstr>
      <vt:lpstr>Calibri</vt:lpstr>
      <vt:lpstr>Calibri Light</vt:lpstr>
      <vt:lpstr>Cascadia Mono SemiBold</vt:lpstr>
      <vt:lpstr>Times New Roman</vt:lpstr>
      <vt:lpstr>Тема Office</vt:lpstr>
      <vt:lpstr>Простой платформер в Godot</vt:lpstr>
      <vt:lpstr>Мастер-класс:</vt:lpstr>
      <vt:lpstr>Godot?</vt:lpstr>
      <vt:lpstr>Как скачать?</vt:lpstr>
      <vt:lpstr>Мастер-класс:</vt:lpstr>
      <vt:lpstr>Заключение</vt:lpstr>
      <vt:lpstr>Простой платформер в Godot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Nikita Kulnev</dc:creator>
  <cp:lastModifiedBy>Никита Кульнев</cp:lastModifiedBy>
  <cp:revision>90</cp:revision>
  <dcterms:created xsi:type="dcterms:W3CDTF">2025-02-20T05:53:27Z</dcterms:created>
  <dcterms:modified xsi:type="dcterms:W3CDTF">2025-04-14T11:54:17Z</dcterms:modified>
</cp:coreProperties>
</file>